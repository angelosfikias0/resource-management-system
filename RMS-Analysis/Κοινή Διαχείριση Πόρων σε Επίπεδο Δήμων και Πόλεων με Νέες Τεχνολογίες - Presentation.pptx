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Ubuntu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BF6DFE-5033-4638-9986-8C6B9F8657F4}">
  <a:tblStyle styleId="{62BF6DFE-5033-4638-9986-8C6B9F8657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buntu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buntu-regular.fntdata"/><Relationship Id="rId16" Type="http://schemas.openxmlformats.org/officeDocument/2006/relationships/slide" Target="slides/slide10.xml"/><Relationship Id="rId19" Type="http://schemas.openxmlformats.org/officeDocument/2006/relationships/font" Target="fonts/Ubuntu-italic.fntdata"/><Relationship Id="rId18" Type="http://schemas.openxmlformats.org/officeDocument/2006/relationships/font" Target="fonts/Ubuntu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33815cf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33815cf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33815cf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33815cf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33815cf3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33815cf3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33815cf3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33815cf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3815cf3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33815cf3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33815cf3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33815cf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33815cf3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33815cf3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33815cf3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33815cf3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33815cf3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33815cf3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Κοινή Διαχείριση Πόρων σε Επίπεδο Δήμων 	και Πόλεων με Νέες Τεχνολογίες - Smart City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239300" y="2830725"/>
            <a:ext cx="34392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Άγγελος Φίκιας - iis23006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Ιωάννης Τσιρκινίδης - iis23172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Αλέξανδρος Λαζαρίδης - iis23177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Βάιος Παλιούρας - iis23188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Προβλημα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834750" y="1318925"/>
            <a:ext cx="4884600" cy="29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latin typeface="Ubuntu"/>
                <a:ea typeface="Ubuntu"/>
                <a:cs typeface="Ubuntu"/>
                <a:sym typeface="Ubuntu"/>
              </a:rPr>
              <a:t>Οι δήμοι λειτουργούν  αυτ</a:t>
            </a:r>
            <a:r>
              <a:rPr lang="el" sz="1500">
                <a:latin typeface="Ubuntu"/>
                <a:ea typeface="Ubuntu"/>
                <a:cs typeface="Ubuntu"/>
                <a:sym typeface="Ubuntu"/>
              </a:rPr>
              <a:t>όνομα, χωρίς συνεργασία. Πολλοί πόροι λειτουργούν εν δυνάμει:</a:t>
            </a:r>
            <a:endParaRPr sz="1500">
              <a:latin typeface="Ubuntu"/>
              <a:ea typeface="Ubuntu"/>
              <a:cs typeface="Ubuntu"/>
              <a:sym typeface="Ubuntu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Ubuntu"/>
              <a:buChar char="●"/>
            </a:pPr>
            <a:r>
              <a:rPr lang="el" sz="1500">
                <a:latin typeface="Ubuntu"/>
                <a:ea typeface="Ubuntu"/>
                <a:cs typeface="Ubuntu"/>
                <a:sym typeface="Ubuntu"/>
              </a:rPr>
              <a:t>Οχήματα</a:t>
            </a:r>
            <a:endParaRPr sz="1500">
              <a:latin typeface="Ubuntu"/>
              <a:ea typeface="Ubuntu"/>
              <a:cs typeface="Ubuntu"/>
              <a:sym typeface="Ubuntu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Ubuntu"/>
              <a:buChar char="●"/>
            </a:pPr>
            <a:r>
              <a:rPr lang="el" sz="1500">
                <a:latin typeface="Ubuntu"/>
                <a:ea typeface="Ubuntu"/>
                <a:cs typeface="Ubuntu"/>
                <a:sym typeface="Ubuntu"/>
              </a:rPr>
              <a:t>Μηχανήματα</a:t>
            </a:r>
            <a:endParaRPr sz="1500">
              <a:latin typeface="Ubuntu"/>
              <a:ea typeface="Ubuntu"/>
              <a:cs typeface="Ubuntu"/>
              <a:sym typeface="Ubuntu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Ubuntu"/>
              <a:buChar char="●"/>
            </a:pPr>
            <a:r>
              <a:rPr lang="el" sz="1500">
                <a:latin typeface="Ubuntu"/>
                <a:ea typeface="Ubuntu"/>
                <a:cs typeface="Ubuntu"/>
                <a:sym typeface="Ubuntu"/>
              </a:rPr>
              <a:t>Εργαλεία</a:t>
            </a:r>
            <a:endParaRPr sz="15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latin typeface="Ubuntu"/>
                <a:ea typeface="Ubuntu"/>
                <a:cs typeface="Ubuntu"/>
                <a:sym typeface="Ubuntu"/>
              </a:rPr>
              <a:t>Αυτό οδηγεί σε:</a:t>
            </a:r>
            <a:endParaRPr sz="1500">
              <a:latin typeface="Ubuntu"/>
              <a:ea typeface="Ubuntu"/>
              <a:cs typeface="Ubuntu"/>
              <a:sym typeface="Ubuntu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Ubuntu"/>
              <a:buChar char="●"/>
            </a:pPr>
            <a:r>
              <a:rPr lang="el" sz="1500">
                <a:latin typeface="Ubuntu"/>
                <a:ea typeface="Ubuntu"/>
                <a:cs typeface="Ubuntu"/>
                <a:sym typeface="Ubuntu"/>
              </a:rPr>
              <a:t>Αυξημένα κόστη</a:t>
            </a:r>
            <a:endParaRPr sz="1500">
              <a:latin typeface="Ubuntu"/>
              <a:ea typeface="Ubuntu"/>
              <a:cs typeface="Ubuntu"/>
              <a:sym typeface="Ubuntu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Ubuntu"/>
              <a:buChar char="●"/>
            </a:pPr>
            <a:r>
              <a:rPr lang="el" sz="1500">
                <a:latin typeface="Ubuntu"/>
                <a:ea typeface="Ubuntu"/>
                <a:cs typeface="Ubuntu"/>
                <a:sym typeface="Ubuntu"/>
              </a:rPr>
              <a:t>Μείωση αποδοτικότητας</a:t>
            </a:r>
            <a:endParaRPr sz="1500">
              <a:latin typeface="Ubuntu"/>
              <a:ea typeface="Ubuntu"/>
              <a:cs typeface="Ubuntu"/>
              <a:sym typeface="Ubuntu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Ubuntu"/>
              <a:buChar char="●"/>
            </a:pPr>
            <a:r>
              <a:rPr lang="el" sz="1500">
                <a:latin typeface="Ubuntu"/>
                <a:ea typeface="Ubuntu"/>
                <a:cs typeface="Ubuntu"/>
                <a:sym typeface="Ubuntu"/>
              </a:rPr>
              <a:t>Αδυναμία άμεσης ανταπόκρισης σε ανάγκες</a:t>
            </a:r>
            <a:endParaRPr sz="150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Χρηστες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7" name="Google Shape;147;p15"/>
          <p:cNvSpPr txBox="1"/>
          <p:nvPr>
            <p:ph idx="1" type="subTitle"/>
          </p:nvPr>
        </p:nvSpPr>
        <p:spPr>
          <a:xfrm>
            <a:off x="3753325" y="1095600"/>
            <a:ext cx="5538300" cy="29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l" sz="1410">
                <a:latin typeface="Ubuntu"/>
                <a:ea typeface="Ubuntu"/>
                <a:cs typeface="Ubuntu"/>
                <a:sym typeface="Ubuntu"/>
              </a:rPr>
              <a:t>         Δημοτικές Αρχές</a:t>
            </a:r>
            <a:endParaRPr b="1" i="1" sz="14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Πρόσβαση/διαχείριση πόρων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Διάθεση εξοπλισμού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Καταγραφή στατιστικών δεδομένων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                                  </a:t>
            </a:r>
            <a:r>
              <a:rPr b="1" i="1" lang="el" sz="1410">
                <a:latin typeface="Ubuntu"/>
                <a:ea typeface="Ubuntu"/>
                <a:cs typeface="Ubuntu"/>
                <a:sym typeface="Ubuntu"/>
              </a:rPr>
              <a:t>Πολίτες</a:t>
            </a:r>
            <a:endParaRPr b="1" i="1" sz="14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Ενημέρωση για πόρους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Πρόσβαση σε (βασικά) στατιστικά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    </a:t>
            </a:r>
            <a:r>
              <a:rPr lang="el" sz="1310">
                <a:latin typeface="Ubuntu"/>
                <a:ea typeface="Ubuntu"/>
                <a:cs typeface="Ubuntu"/>
                <a:sym typeface="Ubuntu"/>
              </a:rPr>
              <a:t>   </a:t>
            </a:r>
            <a:r>
              <a:rPr b="1" i="1" lang="el" sz="1410">
                <a:latin typeface="Ubuntu"/>
                <a:ea typeface="Ubuntu"/>
                <a:cs typeface="Ubuntu"/>
                <a:sym typeface="Ubuntu"/>
              </a:rPr>
              <a:t>Διαχειριστές Συστήματος</a:t>
            </a:r>
            <a:endParaRPr b="1" i="1" sz="14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Διαχείριση δικαιωμάτων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Παρακολούθηση συστήματος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Δημιουργία αντιγράφων ασφαλείας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ctrTitle"/>
          </p:nvPr>
        </p:nvSpPr>
        <p:spPr>
          <a:xfrm>
            <a:off x="1039500" y="0"/>
            <a:ext cx="36801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Απαιτησεις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2968600" y="832150"/>
            <a:ext cx="6053100" cy="2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Λειτουργικές Απαιτήσεις</a:t>
            </a:r>
            <a:endParaRPr b="1"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Καταγραφή &amp; Ενημέρωση Πόρων: Καταγραφή και ενημέρωση πόρων από τους δήμους.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Αιτήσεις &amp; Διάθεση Πόρων: Υποβολή αιτήσεων και διάθεση πόρων μεταξύ δήμων.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Ορατότητα Πόρων: Ορατότητα διαθεσιμότητας πόρων όλων των δήμων.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Πληροφόρηση Πολιτών: Πρόσβαση πολιτών στη δημόσια βάση δεδομένων για πόρους.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Δικαιώματα Πρόσβασης: Υποστήριξη δικαιωμάτων ανά χρήστη (δήμος, πολίτης, διαχειριστής).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Το σύστημα να επιτρέπει τη παραγωγή στατιστικών αναφορών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Αναφορές Πόρων: Εξαγωγή αναφορών χρήσης πόρων.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2968600" y="3069300"/>
            <a:ext cx="5928600" cy="1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Μη Λειτουργικές Απαιτήσεις</a:t>
            </a:r>
            <a:endParaRPr b="1"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Φιλικό UI: Εύχρηστο γραφικό περιβάλλον για αναζήτηση και πλοήγηση.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Ασφάλεια Δεδομένων: Προστασία δεδομένων (role-based access, encryption).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Επεκτασιμότητα: Υποστήριξη για προσθήκη νέων δήμων και δεδομένων χωρίς περιορισμούς.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Υψηλή Διαθεσιμότητα: Uptime ≥ 99%.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Γρήγορη Απόκριση: Χρόνος απόκρισης ≤ 3 δευτερόλεπτα για βασικές ενέργειες.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buntu"/>
              <a:buAutoNum type="arabicPeriod"/>
            </a:pPr>
            <a:r>
              <a:rPr lang="el" sz="1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Αντίγραφα Ασφαλείας: Δυνατότητα backup &amp; recovery.</a:t>
            </a:r>
            <a:endParaRPr sz="11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ctrTitle"/>
          </p:nvPr>
        </p:nvSpPr>
        <p:spPr>
          <a:xfrm>
            <a:off x="1075250" y="0"/>
            <a:ext cx="38868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Περιορισμοι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0" name="Google Shape;160;p17"/>
          <p:cNvSpPr txBox="1"/>
          <p:nvPr>
            <p:ph idx="1" type="subTitle"/>
          </p:nvPr>
        </p:nvSpPr>
        <p:spPr>
          <a:xfrm>
            <a:off x="2962475" y="856400"/>
            <a:ext cx="5227800" cy="10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10">
                <a:latin typeface="Ubuntu"/>
                <a:ea typeface="Ubuntu"/>
                <a:cs typeface="Ubuntu"/>
                <a:sym typeface="Ubuntu"/>
              </a:rPr>
              <a:t>Κανονιστικοί / Νομικοί Περιορισμοί</a:t>
            </a:r>
            <a:endParaRPr b="1" sz="1110">
              <a:latin typeface="Ubuntu"/>
              <a:ea typeface="Ubuntu"/>
              <a:cs typeface="Ubuntu"/>
              <a:sym typeface="Ubuntu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Font typeface="Ubuntu"/>
              <a:buChar char="●"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Συμμόρφωση με τον Γενικό Κανονισμό Προστασίας Δεδομένων (GDPR)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Font typeface="Ubuntu"/>
              <a:buChar char="●"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Αποθήκευση Δεδομένων εντός ΕΕ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Font typeface="Ubuntu"/>
              <a:buChar char="●"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Συμβατότητα με Ευρωπαϊκές Πολιτικές Ασφάλειας Πληροφοριών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Font typeface="Ubuntu"/>
              <a:buChar char="●"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Νομική Επαλήθευση Συναλλαγών μέσω Blockchain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1" name="Google Shape;161;p17"/>
          <p:cNvSpPr txBox="1"/>
          <p:nvPr>
            <p:ph idx="1" type="subTitle"/>
          </p:nvPr>
        </p:nvSpPr>
        <p:spPr>
          <a:xfrm>
            <a:off x="3574400" y="2397050"/>
            <a:ext cx="52278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10">
                <a:latin typeface="Ubuntu"/>
                <a:ea typeface="Ubuntu"/>
                <a:cs typeface="Ubuntu"/>
                <a:sym typeface="Ubuntu"/>
              </a:rPr>
              <a:t>Λειτουργικοί Περιορισμοί</a:t>
            </a:r>
            <a:endParaRPr b="1" sz="1110">
              <a:latin typeface="Ubuntu"/>
              <a:ea typeface="Ubuntu"/>
              <a:cs typeface="Ubuntu"/>
              <a:sym typeface="Ubuntu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Font typeface="Ubuntu"/>
              <a:buChar char="●"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Προγραμματισμένα Διαστήματα Ενημέρωσης Βάσης Δεδομένων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Font typeface="Ubuntu"/>
              <a:buChar char="●"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Δικαίωμα Ανάγνωσης Δεδομένων για Πολίτες και εισαγωγής/τροποποίησης για δήμους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4145100" y="3713000"/>
            <a:ext cx="4527000" cy="10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10">
                <a:latin typeface="Ubuntu"/>
                <a:ea typeface="Ubuntu"/>
                <a:cs typeface="Ubuntu"/>
                <a:sym typeface="Ubuntu"/>
              </a:rPr>
              <a:t>Τεχνικοί Περιορισμοί</a:t>
            </a:r>
            <a:endParaRPr b="1" sz="1110">
              <a:latin typeface="Ubuntu"/>
              <a:ea typeface="Ubuntu"/>
              <a:cs typeface="Ubuntu"/>
              <a:sym typeface="Ubuntu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Font typeface="Ubuntu"/>
              <a:buChar char="●"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Λειτουργία σε Web Περιβάλλον (Browser-based)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Font typeface="Ubuntu"/>
              <a:buChar char="●"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Υποστήριξη Ταυτόχρονων Συνδέσεων από Πολλούς Δήμους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Font typeface="Ubuntu"/>
              <a:buChar char="●"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Ασφαλή Πρωτόκολλα Επικοινωνίας (HTTPS, SSL/TLS) και κρυπτογράφηση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Αναλυση Τρεχουσας Καταστασης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8" name="Google Shape;168;p18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ctrTitle"/>
          </p:nvPr>
        </p:nvSpPr>
        <p:spPr>
          <a:xfrm>
            <a:off x="1797650" y="0"/>
            <a:ext cx="5784300" cy="48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SWOT Analysis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174" name="Google Shape;174;p19"/>
          <p:cNvGraphicFramePr/>
          <p:nvPr/>
        </p:nvGraphicFramePr>
        <p:xfrm>
          <a:off x="310800" y="54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{62BF6DFE-5033-4638-9986-8C6B9F8657F4}</a:tableStyleId>
              </a:tblPr>
              <a:tblGrid>
                <a:gridCol w="4422200"/>
                <a:gridCol w="4335800"/>
              </a:tblGrid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Κατηγορία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lt1"/>
                          </a:solidFill>
                        </a:rPr>
                        <a:t>Στοιχεία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59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Strengths (Δυνατά Σημεία)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Κάθε δήμος γνωρίζει τις ανάγκες του και τους πόρους που διαθέτει.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Υπάρχουν ήδη υποδομές και προσωπικό για αγορές και καταγραφή πόρων.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4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Weaknesses (Αδυναμίες)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Απουσία κεντρικής βάσης δεδομένων.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Περιορισμένη διαφάνεια στα έξοδα.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…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52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Opportunities (Ευκαιρίες)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Δημιουργία ενιαίου συστήματος διαχείρισης πόρων (RMS).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Μείωση κόστους μέσω συνεργασίας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Βελτίωση διαφάνειας και συνεργασίας.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Threats (Απειλές)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Αντίσταση στην αλλαγή από δήμους.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Κόστος υλοποίησης και συντήρησης νέου συστήματος.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indent="-29845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Ubuntu"/>
                        <a:buChar char="●"/>
                      </a:pPr>
                      <a:r>
                        <a:rPr lang="el" sz="11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Τεχνικές προκλήσεις.</a:t>
                      </a:r>
                      <a:endParaRPr sz="11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ctrTitle"/>
          </p:nvPr>
        </p:nvSpPr>
        <p:spPr>
          <a:xfrm>
            <a:off x="2894200" y="56800"/>
            <a:ext cx="57843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Σχεδίαση στόχου  (“to‑be”)  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0" name="Google Shape;180;p20"/>
          <p:cNvSpPr txBox="1"/>
          <p:nvPr>
            <p:ph idx="1" type="subTitle"/>
          </p:nvPr>
        </p:nvSpPr>
        <p:spPr>
          <a:xfrm>
            <a:off x="2977800" y="985675"/>
            <a:ext cx="6166200" cy="43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latin typeface="Ubuntu"/>
                <a:ea typeface="Ubuntu"/>
                <a:cs typeface="Ubuntu"/>
                <a:sym typeface="Ubuntu"/>
              </a:rPr>
              <a:t>Βασικές αλλαγές στο σύστημα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buntu"/>
              <a:buChar char="●"/>
            </a:pPr>
            <a:r>
              <a:rPr lang="el" sz="1100">
                <a:latin typeface="Ubuntu"/>
                <a:ea typeface="Ubuntu"/>
                <a:cs typeface="Ubuntu"/>
                <a:sym typeface="Ubuntu"/>
              </a:rPr>
              <a:t>Δημιουργία ενιαίας βάσης δεδομένων πόρων για όλους τους δήμους.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buntu"/>
              <a:buChar char="●"/>
            </a:pPr>
            <a:r>
              <a:rPr lang="el" sz="1100">
                <a:latin typeface="Ubuntu"/>
                <a:ea typeface="Ubuntu"/>
                <a:cs typeface="Ubuntu"/>
                <a:sym typeface="Ubuntu"/>
              </a:rPr>
              <a:t>Οι δήμοι μπορούν να βλέπουν διαθέσιμους πόρους και να υποβάλλουν αιτήματα διάθεσης ή απόκτησης.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buntu"/>
              <a:buChar char="●"/>
            </a:pPr>
            <a:r>
              <a:rPr lang="el" sz="1100">
                <a:latin typeface="Ubuntu"/>
                <a:ea typeface="Ubuntu"/>
                <a:cs typeface="Ubuntu"/>
                <a:sym typeface="Ubuntu"/>
              </a:rPr>
              <a:t>Καταγραφή και παρακολούθηση των  πόρων.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buntu"/>
              <a:buChar char="●"/>
            </a:pPr>
            <a:r>
              <a:rPr lang="el" sz="1100">
                <a:latin typeface="Ubuntu"/>
                <a:ea typeface="Ubuntu"/>
                <a:cs typeface="Ubuntu"/>
                <a:sym typeface="Ubuntu"/>
              </a:rPr>
              <a:t>Διαφάνεια του  διαθέσιμου προϋπολογισμού για κάθε δήμο.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>
                <a:latin typeface="Ubuntu"/>
                <a:ea typeface="Ubuntu"/>
                <a:cs typeface="Ubuntu"/>
                <a:sym typeface="Ubuntu"/>
              </a:rPr>
              <a:t>Οφέλη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●"/>
            </a:pPr>
            <a:r>
              <a:rPr lang="el" sz="1200">
                <a:latin typeface="Ubuntu"/>
                <a:ea typeface="Ubuntu"/>
                <a:cs typeface="Ubuntu"/>
                <a:sym typeface="Ubuntu"/>
              </a:rPr>
              <a:t>Βελτιστοποίηση αγορών και μειωμένα έξοδα.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●"/>
            </a:pPr>
            <a:r>
              <a:rPr lang="el" sz="1200">
                <a:latin typeface="Ubuntu"/>
                <a:ea typeface="Ubuntu"/>
                <a:cs typeface="Ubuntu"/>
                <a:sym typeface="Ubuntu"/>
              </a:rPr>
              <a:t>Ιχνηλασιμότητα - traceability.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●"/>
            </a:pPr>
            <a:r>
              <a:rPr lang="el" sz="1200">
                <a:latin typeface="Ubuntu"/>
                <a:ea typeface="Ubuntu"/>
                <a:cs typeface="Ubuntu"/>
                <a:sym typeface="Ubuntu"/>
              </a:rPr>
              <a:t>Καλύτερη διαφάνεια και εμπιστοσύνη των πολιτών.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●"/>
            </a:pPr>
            <a:r>
              <a:rPr lang="el" sz="1200">
                <a:latin typeface="Ubuntu"/>
                <a:ea typeface="Ubuntu"/>
                <a:cs typeface="Ubuntu"/>
                <a:sym typeface="Ubuntu"/>
              </a:rPr>
              <a:t>Δυνατότητα στρατηγικού προγραμματισμού πόρων για όλους τους δήμους.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idx="1" type="subTitle"/>
          </p:nvPr>
        </p:nvSpPr>
        <p:spPr>
          <a:xfrm>
            <a:off x="2951950" y="226350"/>
            <a:ext cx="6030600" cy="4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Βασικά KPIs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buntu"/>
              <a:buChar char="●"/>
            </a:pPr>
            <a:r>
              <a:rPr lang="el" sz="1100">
                <a:latin typeface="Ubuntu"/>
                <a:ea typeface="Ubuntu"/>
                <a:cs typeface="Ubuntu"/>
                <a:sym typeface="Ubuntu"/>
              </a:rPr>
              <a:t>Χρόνος ολοκλήρωσης διάθεσης πόρου: &lt;3 ημέρες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buntu"/>
              <a:buChar char="●"/>
            </a:pPr>
            <a:r>
              <a:rPr lang="el" sz="1100">
                <a:latin typeface="Ubuntu"/>
                <a:ea typeface="Ubuntu"/>
                <a:cs typeface="Ubuntu"/>
                <a:sym typeface="Ubuntu"/>
              </a:rPr>
              <a:t>Μείωση αδράνειας πόρων: &lt;10%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buntu"/>
              <a:buChar char="●"/>
            </a:pPr>
            <a:r>
              <a:rPr lang="el" sz="1100">
                <a:latin typeface="Ubuntu"/>
                <a:ea typeface="Ubuntu"/>
                <a:cs typeface="Ubuntu"/>
                <a:sym typeface="Ubuntu"/>
              </a:rPr>
              <a:t>Διαφάνεια συναλλαγών: 10</a:t>
            </a:r>
            <a:r>
              <a:rPr lang="el" sz="1100">
                <a:latin typeface="Ubuntu"/>
                <a:ea typeface="Ubuntu"/>
                <a:cs typeface="Ubuntu"/>
                <a:sym typeface="Ubuntu"/>
              </a:rPr>
              <a:t>0%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l" sz="1100">
                <a:latin typeface="Ubuntu"/>
                <a:ea typeface="Ubuntu"/>
                <a:cs typeface="Ubuntu"/>
                <a:sym typeface="Ubuntu"/>
              </a:rPr>
              <a:t>Ικανοποίηση χρηστών: Βαθμός ≥ 4</a:t>
            </a:r>
            <a:r>
              <a:rPr lang="el" sz="1100">
                <a:latin typeface="Times New Roman"/>
                <a:ea typeface="Times New Roman"/>
                <a:cs typeface="Times New Roman"/>
                <a:sym typeface="Times New Roman"/>
              </a:rPr>
              <a:t>/5</a:t>
            </a:r>
            <a:endParaRPr sz="10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 Κριτήρια Αποδοχής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l" sz="1200">
                <a:latin typeface="Times New Roman"/>
                <a:ea typeface="Times New Roman"/>
                <a:cs typeface="Times New Roman"/>
                <a:sym typeface="Times New Roman"/>
              </a:rPr>
              <a:t>Προσβασιμότητα: Πλήρης προσβασιμότητα για όλους (screen readers, σωστή αντίθεση, πλοήγηση με πληκτρολόγιο).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l" sz="1200">
                <a:latin typeface="Times New Roman"/>
                <a:ea typeface="Times New Roman"/>
                <a:cs typeface="Times New Roman"/>
                <a:sym typeface="Times New Roman"/>
              </a:rPr>
              <a:t>Χρηστικότητα:Ο χρήστης ολοκληρώνει κρίσιμες ενέργειες σε ≤ 4 βήματα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l" sz="1200">
                <a:latin typeface="Times New Roman"/>
                <a:ea typeface="Times New Roman"/>
                <a:cs typeface="Times New Roman"/>
                <a:sym typeface="Times New Roman"/>
              </a:rPr>
              <a:t>Απόδοση:Latency  &lt;1 δευτ.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l" sz="1200">
                <a:latin typeface="Times New Roman"/>
                <a:ea typeface="Times New Roman"/>
                <a:cs typeface="Times New Roman"/>
                <a:sym typeface="Times New Roman"/>
              </a:rPr>
              <a:t>Ασφάλεια :Κρυπτογράφηση δεδομένων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t/>
            </a:r>
            <a:endParaRPr sz="24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Smart City - RMS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1" name="Google Shape;191;p22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1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1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